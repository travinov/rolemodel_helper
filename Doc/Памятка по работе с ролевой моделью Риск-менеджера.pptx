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http://C5FBD2EE19A94A7B850F5B3B2A9698D4.dms.sberbank.ru/C5FBD2EE19A94A7B850F5B3B2A9698D4-A9D31B71E937AC9CEF168783E441EF21-7BB3F4FA669E8244124F91D2E3BC7321/1.png" TargetMode="External"/><Relationship Id="rId4" Type="http://schemas.openxmlformats.org/officeDocument/2006/relationships/image" Target="http://C5FBD2EE19A94A7B850F5B3B2A9698D4.dms.sberbank.ru/C5FBD2EE19A94A7B850F5B3B2A9698D4-A9D31B71E937AC9CEF168783E441EF21-2744F2265EA1FBACBEA0F77509DE2A03/1.pn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9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88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98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36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361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800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62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4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3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613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77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Заголовок и текст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/>
          </p:nvPr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7"/>
          <p:cNvSpPr txBox="1"/>
          <p:nvPr userDrawn="1"/>
        </p:nvSpPr>
        <p:spPr bwMode="auto">
          <a:xfrm>
            <a:off x="375558" y="312965"/>
            <a:ext cx="5159828" cy="421820"/>
          </a:xfrm>
          <a:prstGeom prst="rect">
            <a:avLst/>
          </a:prstGeom>
        </p:spPr>
        <p:txBody>
          <a:bodyPr lIns="36000" tIns="36000" rIns="36000" bIns="36000"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 b="0" i="0">
                <a:solidFill>
                  <a:schemeClr val="tx1"/>
                </a:solidFill>
                <a:latin typeface="SB Sans Display Regular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ru-RU" sz="240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Заголовок 3"/>
          <p:cNvSpPr>
            <a:spLocks noGrp="1"/>
          </p:cNvSpPr>
          <p:nvPr>
            <p:ph type="title"/>
          </p:nvPr>
        </p:nvSpPr>
        <p:spPr bwMode="auto">
          <a:xfrm>
            <a:off x="609517" y="550119"/>
            <a:ext cx="10958595" cy="369332"/>
          </a:xfrm>
          <a:prstGeom prst="rect">
            <a:avLst/>
          </a:prstGeom>
        </p:spPr>
        <p:txBody>
          <a:bodyPr wrap="square" lIns="36000" tIns="36000" rIns="36000" bIns="36000" anchor="t" anchorCtr="0">
            <a:spAutoFit/>
          </a:bodyPr>
          <a:lstStyle>
            <a:lvl1pPr>
              <a:defRPr lang="ru-RU" sz="2400" b="1">
                <a:gradFill>
                  <a:gsLst>
                    <a:gs pos="0">
                      <a:srgbClr val="FD0474"/>
                    </a:gs>
                    <a:gs pos="71000">
                      <a:srgbClr val="6E15A6"/>
                    </a:gs>
                  </a:gsLst>
                  <a:lin ang="18600000" scaled="0"/>
                </a:gradFill>
                <a:latin typeface="SB Sans Display Semibold"/>
                <a:cs typeface="SB Sans Display Semibold"/>
              </a:defRPr>
            </a:lvl1pPr>
          </a:lstStyle>
          <a:p>
            <a:pPr lvl="0" algn="l"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" name="TextBox 11"/>
          <p:cNvSpPr txBox="1"/>
          <p:nvPr userDrawn="1"/>
        </p:nvSpPr>
        <p:spPr bwMode="auto">
          <a:xfrm>
            <a:off x="11642567" y="6460487"/>
            <a:ext cx="3500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fld id="{A5E1C6F5-1338-45B5-8A9B-115162409671}" type="slidenum">
              <a:rPr lang="ru-RU" sz="1050">
                <a:solidFill>
                  <a:prstClr val="white">
                    <a:lumMod val="75000"/>
                  </a:prstClr>
                </a:solidFill>
                <a:latin typeface="SB Sans Display Light"/>
                <a:ea typeface="Roboto Thin"/>
                <a:cs typeface="SB Sans Display Light"/>
              </a:rPr>
              <a:t>‹#›</a:t>
            </a:fld>
            <a:endParaRPr lang="ru-RU" sz="1050">
              <a:solidFill>
                <a:prstClr val="white">
                  <a:lumMod val="75000"/>
                </a:prstClr>
              </a:solidFill>
              <a:latin typeface="SB Sans Display Light"/>
              <a:ea typeface="Roboto Thin"/>
              <a:cs typeface="SB Sans Display Light"/>
            </a:endParaRPr>
          </a:p>
        </p:txBody>
      </p:sp>
      <p:cxnSp>
        <p:nvCxnSpPr>
          <p:cNvPr id="17" name="Прямая соединительная линия 16"/>
          <p:cNvCxnSpPr>
            <a:cxnSpLocks/>
          </p:cNvCxnSpPr>
          <p:nvPr userDrawn="1"/>
        </p:nvCxnSpPr>
        <p:spPr bwMode="auto">
          <a:xfrm>
            <a:off x="0" y="17599"/>
            <a:ext cx="12192000" cy="0"/>
          </a:xfrm>
          <a:prstGeom prst="line">
            <a:avLst/>
          </a:prstGeom>
          <a:ln w="57150">
            <a:gradFill>
              <a:gsLst>
                <a:gs pos="0">
                  <a:srgbClr val="FD2789"/>
                </a:gs>
                <a:gs pos="100000">
                  <a:srgbClr val="80007D"/>
                </a:gs>
              </a:gsLst>
              <a:lin ang="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Рисунок 29" descr="http://C5FBD2EE19A94A7B850F5B3B2A9698D4.dms.sberbank.ru/C5FBD2EE19A94A7B850F5B3B2A9698D4-A9D31B71E937AC9CEF168783E441EF21-2744F2265EA1FBACBEA0F77509DE2A03/1.png"/>
          <p:cNvPicPr/>
          <p:nvPr userDrawn="1"/>
        </p:nvPicPr>
        <p:blipFill>
          <a:blip r:link="rId4"/>
          <a:stretch/>
        </p:blipFill>
        <p:spPr bwMode="auto">
          <a:xfrm>
            <a:off x="0" y="0"/>
            <a:ext cx="1587" cy="1587"/>
          </a:xfrm>
          <a:prstGeom prst="rect">
            <a:avLst/>
          </a:prstGeom>
        </p:spPr>
      </p:pic>
      <p:pic>
        <p:nvPicPr>
          <p:cNvPr id="6" name="Рисунок 5" descr="http://C5FBD2EE19A94A7B850F5B3B2A9698D4.dms.sberbank.ru/C5FBD2EE19A94A7B850F5B3B2A9698D4-A9D31B71E937AC9CEF168783E441EF21-7BB3F4FA669E8244124F91D2E3BC7321/1.png"/>
          <p:cNvPicPr/>
          <p:nvPr userDrawn="1"/>
        </p:nvPicPr>
        <p:blipFill>
          <a:blip r:link="rId5"/>
          <a:stretch/>
        </p:blipFill>
        <p:spPr bwMode="auto">
          <a:xfrm>
            <a:off x="0" y="0"/>
            <a:ext cx="1587" cy="1587"/>
          </a:xfrm>
          <a:prstGeom prst="rect">
            <a:avLst/>
          </a:prstGeom>
        </p:spPr>
      </p:pic>
      <p:sp>
        <p:nvSpPr>
          <p:cNvPr id="13" name="Текст 2"/>
          <p:cNvSpPr>
            <a:spLocks noGrp="1"/>
          </p:cNvSpPr>
          <p:nvPr>
            <p:ph type="body" sz="quarter" idx="10"/>
          </p:nvPr>
        </p:nvSpPr>
        <p:spPr bwMode="auto">
          <a:xfrm>
            <a:off x="609516" y="1267304"/>
            <a:ext cx="10958595" cy="914400"/>
          </a:xfrm>
          <a:prstGeom prst="rect">
            <a:avLst/>
          </a:prstGeom>
        </p:spPr>
        <p:txBody>
          <a:bodyPr lIns="36000" tIns="36000" rIns="36000" bIns="3600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860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E1F15-939B-4802-A61D-04138C8962E6}" type="datetimeFigureOut">
              <a:rPr lang="ru-RU" smtClean="0"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18C8B-1CC3-4F7B-A397-2A5894D12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469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5632" y="212656"/>
            <a:ext cx="10958595" cy="405102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Памятка по работе с ролевой моделью </a:t>
            </a:r>
            <a:r>
              <a:rPr lang="ru-RU" dirty="0"/>
              <a:t>ЦРМ ПЦП ЦКРР (</a:t>
            </a:r>
            <a:r>
              <a:rPr lang="en-US" dirty="0"/>
              <a:t>RM00000705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1927564" y="63035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 </a:t>
            </a:r>
          </a:p>
        </p:txBody>
      </p:sp>
      <p:sp>
        <p:nvSpPr>
          <p:cNvPr id="40" name="Скругленный прямоугольник 39"/>
          <p:cNvSpPr/>
          <p:nvPr/>
        </p:nvSpPr>
        <p:spPr bwMode="auto">
          <a:xfrm>
            <a:off x="10434020" y="694258"/>
            <a:ext cx="1911565" cy="21210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ru-RU">
              <a:solidFill>
                <a:schemeClr val="tx1"/>
              </a:solidFill>
              <a:cs typeface="SB Sans Text"/>
            </a:endParaRPr>
          </a:p>
        </p:txBody>
      </p:sp>
      <p:cxnSp>
        <p:nvCxnSpPr>
          <p:cNvPr id="21" name="Прямая соединительная линия 20"/>
          <p:cNvCxnSpPr>
            <a:cxnSpLocks/>
          </p:cNvCxnSpPr>
          <p:nvPr/>
        </p:nvCxnSpPr>
        <p:spPr bwMode="auto">
          <a:xfrm>
            <a:off x="161637" y="602215"/>
            <a:ext cx="11868727" cy="0"/>
          </a:xfrm>
          <a:prstGeom prst="line">
            <a:avLst/>
          </a:prstGeom>
          <a:ln>
            <a:solidFill>
              <a:srgbClr val="81007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Скругленный прямоугольник 33"/>
          <p:cNvSpPr/>
          <p:nvPr/>
        </p:nvSpPr>
        <p:spPr bwMode="auto">
          <a:xfrm>
            <a:off x="119552" y="709800"/>
            <a:ext cx="11952896" cy="177458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Что такое ролевая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модель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Как проверить доступные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АС </a:t>
            </a: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в рамках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роли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Как войти в </a:t>
            </a:r>
            <a:r>
              <a:rPr lang="ru-RU" dirty="0" smtClean="0">
                <a:solidFill>
                  <a:schemeClr val="bg2">
                    <a:lumMod val="10000"/>
                  </a:schemeClr>
                </a:solidFill>
              </a:rPr>
              <a:t>АС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Распространённые ошибки и способы их устранения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schemeClr val="bg2">
                    <a:lumMod val="10000"/>
                  </a:schemeClr>
                </a:solidFill>
              </a:rPr>
              <a:t>Куда обратиться при возникновении вопросов</a:t>
            </a:r>
          </a:p>
        </p:txBody>
      </p:sp>
    </p:spTree>
    <p:extLst>
      <p:ext uri="{BB962C8B-B14F-4D97-AF65-F5344CB8AC3E}">
        <p14:creationId xmlns:p14="http://schemas.microsoft.com/office/powerpoint/2010/main" val="206394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5632" y="212656"/>
            <a:ext cx="10958595" cy="405102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Памятка по работе с ролевой моделью </a:t>
            </a:r>
            <a:r>
              <a:rPr lang="ru-RU" dirty="0"/>
              <a:t>ЦРМ ПЦП ЦКРР (</a:t>
            </a:r>
            <a:r>
              <a:rPr lang="en-US" dirty="0"/>
              <a:t>RM00000705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1927564" y="63035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 </a:t>
            </a:r>
          </a:p>
        </p:txBody>
      </p:sp>
      <p:sp>
        <p:nvSpPr>
          <p:cNvPr id="40" name="Скругленный прямоугольник 39"/>
          <p:cNvSpPr/>
          <p:nvPr/>
        </p:nvSpPr>
        <p:spPr bwMode="auto">
          <a:xfrm>
            <a:off x="10434020" y="694258"/>
            <a:ext cx="1911565" cy="21210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ru-RU">
              <a:solidFill>
                <a:schemeClr val="tx1"/>
              </a:solidFill>
              <a:cs typeface="SB Sans Text"/>
            </a:endParaRPr>
          </a:p>
        </p:txBody>
      </p:sp>
      <p:cxnSp>
        <p:nvCxnSpPr>
          <p:cNvPr id="21" name="Прямая соединительная линия 20"/>
          <p:cNvCxnSpPr>
            <a:cxnSpLocks/>
          </p:cNvCxnSpPr>
          <p:nvPr/>
        </p:nvCxnSpPr>
        <p:spPr bwMode="auto">
          <a:xfrm>
            <a:off x="161637" y="602215"/>
            <a:ext cx="11868727" cy="0"/>
          </a:xfrm>
          <a:prstGeom prst="line">
            <a:avLst/>
          </a:prstGeom>
          <a:ln>
            <a:solidFill>
              <a:srgbClr val="81007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Скругленный прямоугольник 47"/>
          <p:cNvSpPr/>
          <p:nvPr/>
        </p:nvSpPr>
        <p:spPr bwMode="auto">
          <a:xfrm>
            <a:off x="161636" y="611244"/>
            <a:ext cx="11637675" cy="3314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1.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Что </a:t>
            </a:r>
            <a:r>
              <a:rPr lang="ru-RU" sz="1600" b="1" dirty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такое ролевая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модель</a:t>
            </a:r>
            <a:r>
              <a:rPr lang="ru-RU" sz="1600" b="1" dirty="0" smtClean="0">
                <a:gradFill>
                  <a:gsLst>
                    <a:gs pos="0">
                      <a:srgbClr val="FD0474"/>
                    </a:gs>
                    <a:gs pos="71000">
                      <a:srgbClr val="6E15A6"/>
                    </a:gs>
                  </a:gsLst>
                  <a:lin ang="18600000" scaled="0"/>
                </a:gradFill>
                <a:latin typeface="SB Sans Display Semibold"/>
                <a:ea typeface="+mj-ea"/>
                <a:cs typeface="SB Sans Display Semibold"/>
              </a:rPr>
              <a:t> </a:t>
            </a:r>
            <a:endParaRPr lang="ru-RU" sz="1600" b="1" dirty="0">
              <a:gradFill>
                <a:gsLst>
                  <a:gs pos="0">
                    <a:srgbClr val="FD0474"/>
                  </a:gs>
                  <a:gs pos="71000">
                    <a:srgbClr val="6E15A6"/>
                  </a:gs>
                </a:gsLst>
                <a:lin ang="18600000" scaled="0"/>
              </a:gradFill>
              <a:latin typeface="SB Sans Display Semibold"/>
              <a:ea typeface="+mj-ea"/>
              <a:cs typeface="SB Sans Display Semibold"/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 bwMode="auto">
          <a:xfrm>
            <a:off x="104021" y="3084407"/>
            <a:ext cx="3647085" cy="317608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/>
            </a:pPr>
            <a:r>
              <a:rPr lang="ru-RU" sz="1400" dirty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Чтобы узнать, какие 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АС </a:t>
            </a:r>
            <a:r>
              <a:rPr lang="ru-RU" sz="1400" dirty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входят в состав вашей 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ролевой модели, </a:t>
            </a:r>
            <a:r>
              <a:rPr lang="ru-RU" sz="1400" dirty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следуйте 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инструкции:</a:t>
            </a:r>
          </a:p>
          <a:p>
            <a:pPr marL="228600" indent="-228600">
              <a:spcAft>
                <a:spcPts val="600"/>
              </a:spcAft>
              <a:buAutoNum type="arabicPeriod"/>
              <a:defRPr/>
            </a:pP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Перейдите </a:t>
            </a:r>
            <a:r>
              <a:rPr lang="ru-RU" sz="1400" dirty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во вкладку «Мои доступы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» - «Доступы» - «Ролевая модель: Автоматически» (</a:t>
            </a:r>
            <a:r>
              <a:rPr lang="ru-RU" sz="1400" i="1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если вы увидите Нет данных для отображения – обновите страницу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)</a:t>
            </a:r>
          </a:p>
          <a:p>
            <a:pPr>
              <a:spcAft>
                <a:spcPts val="600"/>
              </a:spcAft>
              <a:defRPr/>
            </a:pP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2. Перейдите на Ролевую модель ЦРМ ПЦП ЦКРР </a:t>
            </a:r>
            <a:r>
              <a:rPr lang="en-US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RM00000705</a:t>
            </a:r>
          </a:p>
          <a:p>
            <a:pPr>
              <a:defRPr/>
            </a:pP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3. Ознакомьтесь с перечнем АС </a:t>
            </a:r>
            <a:r>
              <a:rPr lang="ru-RU" sz="1400" dirty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и соответствующими ролями к 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ним, </a:t>
            </a:r>
            <a:r>
              <a:rPr lang="ru-RU" sz="1400" dirty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при необходимости выберете АС и нажмите Применить ролевую модель (с пересчетом параметров доступа)</a:t>
            </a:r>
          </a:p>
          <a:p>
            <a:pPr>
              <a:defRPr/>
            </a:pPr>
            <a:endParaRPr lang="ru-RU" sz="1400" dirty="0">
              <a:solidFill>
                <a:schemeClr val="tx1"/>
              </a:solidFill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 bwMode="auto">
          <a:xfrm>
            <a:off x="161636" y="2057538"/>
            <a:ext cx="3729880" cy="43594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2.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Как </a:t>
            </a:r>
            <a:r>
              <a:rPr lang="ru-RU" sz="1600" b="1" dirty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проверить доступные АС в рамках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ролевой модели:</a:t>
            </a:r>
            <a:endParaRPr lang="ru-RU" sz="1600" b="1" dirty="0">
              <a:solidFill>
                <a:srgbClr val="6E15A6"/>
              </a:solidFill>
              <a:latin typeface="SB Sans Display Semibold"/>
              <a:ea typeface="+mj-ea"/>
              <a:cs typeface="SB Sans Display Semibold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 bwMode="auto">
          <a:xfrm>
            <a:off x="161637" y="1210426"/>
            <a:ext cx="11952896" cy="1475123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ru-RU" sz="1200" dirty="0">
              <a:solidFill>
                <a:schemeClr val="bg2">
                  <a:lumMod val="10000"/>
                </a:schemeClr>
              </a:solidFill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05632" y="900677"/>
            <a:ext cx="11681567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Ролевая модель предназначена для автоматического предоставления пользователям необходимых прав доступа к автоматизированным системам (АС). Благодаря ролевой модели, сотрудники получают нужные права автоматически, без оформления отдельных заявок вручную. </a:t>
            </a:r>
          </a:p>
          <a:p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Тем не менее, для особых ситуаций сохраняется возможность подачи индивидуальных заявок на получение доступа</a:t>
            </a:r>
            <a:endParaRPr lang="ru-RU" sz="1400" dirty="0"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cxnSp>
        <p:nvCxnSpPr>
          <p:cNvPr id="11" name="Прямая соединительная линия 10"/>
          <p:cNvCxnSpPr>
            <a:cxnSpLocks/>
          </p:cNvCxnSpPr>
          <p:nvPr/>
        </p:nvCxnSpPr>
        <p:spPr bwMode="auto">
          <a:xfrm>
            <a:off x="161637" y="1942658"/>
            <a:ext cx="11868727" cy="0"/>
          </a:xfrm>
          <a:prstGeom prst="line">
            <a:avLst/>
          </a:prstGeom>
          <a:ln>
            <a:solidFill>
              <a:srgbClr val="81007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44" y="2036789"/>
            <a:ext cx="8293220" cy="443557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772152" y="2100723"/>
            <a:ext cx="1494846" cy="317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Соединительная линия уступом 12"/>
          <p:cNvCxnSpPr/>
          <p:nvPr/>
        </p:nvCxnSpPr>
        <p:spPr>
          <a:xfrm rot="16200000" flipH="1">
            <a:off x="2817626" y="3359890"/>
            <a:ext cx="1520460" cy="627320"/>
          </a:xfrm>
          <a:prstGeom prst="bentConnector3">
            <a:avLst>
              <a:gd name="adj1" fmla="val 100350"/>
            </a:avLst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Скругленный прямоугольник 34"/>
          <p:cNvSpPr/>
          <p:nvPr/>
        </p:nvSpPr>
        <p:spPr bwMode="auto">
          <a:xfrm>
            <a:off x="5222855" y="6320639"/>
            <a:ext cx="1488559" cy="32961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/>
            </a:pPr>
            <a:r>
              <a:rPr lang="ru-RU" sz="1400" dirty="0" smtClean="0">
                <a:solidFill>
                  <a:srgbClr val="FF0000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АС</a:t>
            </a:r>
            <a:endParaRPr lang="ru-RU" sz="1400" dirty="0">
              <a:solidFill>
                <a:srgbClr val="FF0000"/>
              </a:solidFill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 bwMode="auto">
          <a:xfrm>
            <a:off x="5795592" y="2989616"/>
            <a:ext cx="2848678" cy="3647551"/>
          </a:xfrm>
          <a:prstGeom prst="roundRect">
            <a:avLst>
              <a:gd name="adj" fmla="val 20016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7" name="Соединительная линия уступом 36"/>
          <p:cNvCxnSpPr/>
          <p:nvPr/>
        </p:nvCxnSpPr>
        <p:spPr bwMode="auto">
          <a:xfrm rot="5400000" flipH="1" flipV="1">
            <a:off x="5266054" y="5730955"/>
            <a:ext cx="693673" cy="365401"/>
          </a:xfrm>
          <a:prstGeom prst="bentConnector3">
            <a:avLst>
              <a:gd name="adj1" fmla="val 99049"/>
            </a:avLst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Скругленный прямоугольник 40"/>
          <p:cNvSpPr/>
          <p:nvPr/>
        </p:nvSpPr>
        <p:spPr bwMode="auto">
          <a:xfrm>
            <a:off x="11370253" y="6292595"/>
            <a:ext cx="1488559" cy="32961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/>
            </a:pPr>
            <a:r>
              <a:rPr lang="ru-RU" sz="1400" dirty="0" smtClean="0">
                <a:solidFill>
                  <a:srgbClr val="FF0000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Роли</a:t>
            </a:r>
            <a:endParaRPr lang="ru-RU" sz="1400" dirty="0">
              <a:solidFill>
                <a:srgbClr val="FF0000"/>
              </a:solidFill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cxnSp>
        <p:nvCxnSpPr>
          <p:cNvPr id="42" name="Соединительная линия уступом 41"/>
          <p:cNvCxnSpPr/>
          <p:nvPr/>
        </p:nvCxnSpPr>
        <p:spPr bwMode="auto">
          <a:xfrm rot="16200000" flipV="1">
            <a:off x="11284154" y="5841745"/>
            <a:ext cx="646608" cy="190886"/>
          </a:xfrm>
          <a:prstGeom prst="bentConnector3">
            <a:avLst>
              <a:gd name="adj1" fmla="val 99331"/>
            </a:avLst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/>
          <p:cNvSpPr/>
          <p:nvPr/>
        </p:nvSpPr>
        <p:spPr bwMode="auto">
          <a:xfrm>
            <a:off x="8899451" y="2986332"/>
            <a:ext cx="2548269" cy="3647551"/>
          </a:xfrm>
          <a:prstGeom prst="roundRect">
            <a:avLst>
              <a:gd name="adj" fmla="val 20016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8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5632" y="212656"/>
            <a:ext cx="10958595" cy="405102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Памятка по работе с ролевой моделью </a:t>
            </a:r>
            <a:r>
              <a:rPr lang="ru-RU" dirty="0"/>
              <a:t>ЦРМ ПЦП ЦКРР (</a:t>
            </a:r>
            <a:r>
              <a:rPr lang="en-US" dirty="0"/>
              <a:t>RM00000705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1927564" y="63035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 </a:t>
            </a:r>
          </a:p>
        </p:txBody>
      </p:sp>
      <p:sp>
        <p:nvSpPr>
          <p:cNvPr id="40" name="Скругленный прямоугольник 39"/>
          <p:cNvSpPr/>
          <p:nvPr/>
        </p:nvSpPr>
        <p:spPr bwMode="auto">
          <a:xfrm>
            <a:off x="10434020" y="694258"/>
            <a:ext cx="1911565" cy="21210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ru-RU">
              <a:solidFill>
                <a:schemeClr val="tx1"/>
              </a:solidFill>
              <a:cs typeface="SB Sans Text"/>
            </a:endParaRPr>
          </a:p>
        </p:txBody>
      </p:sp>
      <p:cxnSp>
        <p:nvCxnSpPr>
          <p:cNvPr id="21" name="Прямая соединительная линия 20"/>
          <p:cNvCxnSpPr>
            <a:cxnSpLocks/>
          </p:cNvCxnSpPr>
          <p:nvPr/>
        </p:nvCxnSpPr>
        <p:spPr bwMode="auto">
          <a:xfrm>
            <a:off x="161637" y="602215"/>
            <a:ext cx="11868727" cy="0"/>
          </a:xfrm>
          <a:prstGeom prst="line">
            <a:avLst/>
          </a:prstGeom>
          <a:ln>
            <a:solidFill>
              <a:srgbClr val="81007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Скругленный прямоугольник 47"/>
          <p:cNvSpPr/>
          <p:nvPr/>
        </p:nvSpPr>
        <p:spPr bwMode="auto">
          <a:xfrm>
            <a:off x="161636" y="611244"/>
            <a:ext cx="11637675" cy="3314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2.1</a:t>
            </a:r>
            <a:r>
              <a:rPr lang="en-US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. </a:t>
            </a:r>
            <a:r>
              <a:rPr lang="ru-RU" sz="1600" b="1" dirty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Как проверить доступные АС в рамках ролевой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модели</a:t>
            </a:r>
            <a:r>
              <a:rPr lang="ru-RU" sz="1600" b="1" dirty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(по требованию)</a:t>
            </a:r>
            <a:endParaRPr lang="ru-RU" sz="1600" b="1" dirty="0">
              <a:solidFill>
                <a:srgbClr val="6E15A6"/>
              </a:solidFill>
              <a:latin typeface="SB Sans Display Semibold"/>
              <a:ea typeface="+mj-ea"/>
              <a:cs typeface="SB Sans Display Semibold"/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 bwMode="auto">
          <a:xfrm>
            <a:off x="161636" y="942705"/>
            <a:ext cx="11868728" cy="185365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/>
            </a:pP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«Ролевая модель: По требованию» содержит перечень профилей с </a:t>
            </a:r>
            <a:r>
              <a:rPr lang="ru-RU" sz="1400" dirty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АС и соответствующими ролями к ним, доступ к которым предоставляется исключительно по 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требованию</a:t>
            </a:r>
          </a:p>
          <a:p>
            <a:pPr marL="228600" indent="-228600">
              <a:spcAft>
                <a:spcPts val="600"/>
              </a:spcAft>
              <a:buAutoNum type="arabicPeriod"/>
              <a:defRPr/>
            </a:pP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Перейдите </a:t>
            </a:r>
            <a:r>
              <a:rPr lang="ru-RU" sz="1400" dirty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во вкладку «Мои доступы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» - «Доступы» - «Ролевая модель: По требованию» (</a:t>
            </a:r>
            <a:r>
              <a:rPr lang="ru-RU" sz="1400" i="1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если вы увидите Нет данных для отображения – обновите страницу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) </a:t>
            </a:r>
          </a:p>
          <a:p>
            <a:pPr marL="228600" indent="-228600">
              <a:spcAft>
                <a:spcPts val="600"/>
              </a:spcAft>
              <a:buAutoNum type="arabicPeriod"/>
              <a:defRPr/>
            </a:pP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Ознакомьтесь с перечнем АС </a:t>
            </a:r>
            <a:r>
              <a:rPr lang="ru-RU" sz="1400" dirty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и соответствующими ролями к 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ним, при необходимости выберете АС и нажмите Применить ролевую модель (с пересчетом параметров доступа, если выбрать без пересчета доступов, </a:t>
            </a:r>
            <a:r>
              <a:rPr lang="ru-RU" sz="1400" i="1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то фактически ничего не изменится и роли не применятся</a:t>
            </a:r>
            <a:r>
              <a:rPr lang="ru-RU" sz="1400" dirty="0" smtClean="0">
                <a:solidFill>
                  <a:schemeClr val="tx1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)</a:t>
            </a:r>
          </a:p>
          <a:p>
            <a:pPr marL="228600" indent="-228600">
              <a:spcAft>
                <a:spcPts val="600"/>
              </a:spcAft>
              <a:buAutoNum type="arabicPeriod"/>
              <a:defRPr/>
            </a:pPr>
            <a:endParaRPr lang="ru-RU" sz="1400" dirty="0">
              <a:solidFill>
                <a:schemeClr val="tx1"/>
              </a:solidFill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 bwMode="auto">
          <a:xfrm>
            <a:off x="161637" y="1210426"/>
            <a:ext cx="11952896" cy="1475123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ru-RU" sz="1200" dirty="0">
              <a:solidFill>
                <a:schemeClr val="bg2">
                  <a:lumMod val="10000"/>
                </a:schemeClr>
              </a:solidFill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354413" y="3215516"/>
            <a:ext cx="1494846" cy="317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99" y="2652843"/>
            <a:ext cx="10300147" cy="3951995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 bwMode="auto">
          <a:xfrm>
            <a:off x="8354413" y="2704697"/>
            <a:ext cx="1799680" cy="419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0399" y="3285460"/>
            <a:ext cx="2540122" cy="3157869"/>
          </a:xfrm>
          <a:prstGeom prst="roundRect">
            <a:avLst>
              <a:gd name="adj" fmla="val 20016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 bwMode="auto">
          <a:xfrm>
            <a:off x="3370521" y="5955239"/>
            <a:ext cx="1488559" cy="32961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/>
            </a:pPr>
            <a:r>
              <a:rPr lang="ru-RU" sz="1400" dirty="0" smtClean="0">
                <a:solidFill>
                  <a:srgbClr val="FF0000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Профили</a:t>
            </a:r>
            <a:endParaRPr lang="ru-RU" sz="1400" dirty="0">
              <a:solidFill>
                <a:srgbClr val="FF0000"/>
              </a:solidFill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cxnSp>
        <p:nvCxnSpPr>
          <p:cNvPr id="14" name="Соединительная линия уступом 13"/>
          <p:cNvCxnSpPr/>
          <p:nvPr/>
        </p:nvCxnSpPr>
        <p:spPr>
          <a:xfrm rot="16200000" flipV="1">
            <a:off x="3375838" y="5438553"/>
            <a:ext cx="637952" cy="414670"/>
          </a:xfrm>
          <a:prstGeom prst="bentConnector3">
            <a:avLst>
              <a:gd name="adj1" fmla="val 100000"/>
            </a:avLst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Скругленный прямоугольник 24"/>
          <p:cNvSpPr/>
          <p:nvPr/>
        </p:nvSpPr>
        <p:spPr bwMode="auto">
          <a:xfrm>
            <a:off x="5534855" y="5327919"/>
            <a:ext cx="1488559" cy="32961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/>
            </a:pPr>
            <a:r>
              <a:rPr lang="ru-RU" sz="1400" dirty="0" smtClean="0">
                <a:solidFill>
                  <a:srgbClr val="FF0000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АС</a:t>
            </a:r>
            <a:endParaRPr lang="ru-RU" sz="1400" dirty="0">
              <a:solidFill>
                <a:srgbClr val="FF0000"/>
              </a:solidFill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sp>
        <p:nvSpPr>
          <p:cNvPr id="26" name="Скругленный прямоугольник 25"/>
          <p:cNvSpPr/>
          <p:nvPr/>
        </p:nvSpPr>
        <p:spPr bwMode="auto">
          <a:xfrm>
            <a:off x="3434815" y="3912782"/>
            <a:ext cx="4358849" cy="1094142"/>
          </a:xfrm>
          <a:prstGeom prst="roundRect">
            <a:avLst>
              <a:gd name="adj" fmla="val 20016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Соединительная линия уступом 26"/>
          <p:cNvCxnSpPr/>
          <p:nvPr/>
        </p:nvCxnSpPr>
        <p:spPr bwMode="auto">
          <a:xfrm rot="16200000" flipV="1">
            <a:off x="5570822" y="5209310"/>
            <a:ext cx="384052" cy="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Скругленный прямоугольник 27"/>
          <p:cNvSpPr/>
          <p:nvPr/>
        </p:nvSpPr>
        <p:spPr bwMode="auto">
          <a:xfrm>
            <a:off x="10612510" y="5012832"/>
            <a:ext cx="1488559" cy="32961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/>
            </a:pPr>
            <a:r>
              <a:rPr lang="ru-RU" sz="1400" dirty="0" smtClean="0">
                <a:solidFill>
                  <a:srgbClr val="FF0000"/>
                </a:solidFill>
                <a:latin typeface="SB Sans Text" panose="020B0503040504020204" pitchFamily="34" charset="-52"/>
                <a:cs typeface="SB Sans Text" panose="020B0503040504020204" pitchFamily="34" charset="-52"/>
              </a:rPr>
              <a:t>Роли</a:t>
            </a:r>
            <a:endParaRPr lang="ru-RU" sz="1400" dirty="0">
              <a:solidFill>
                <a:srgbClr val="FF0000"/>
              </a:solidFill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cxnSp>
        <p:nvCxnSpPr>
          <p:cNvPr id="29" name="Соединительная линия уступом 28"/>
          <p:cNvCxnSpPr/>
          <p:nvPr/>
        </p:nvCxnSpPr>
        <p:spPr bwMode="auto">
          <a:xfrm rot="16200000" flipV="1">
            <a:off x="10556698" y="4605157"/>
            <a:ext cx="646608" cy="190886"/>
          </a:xfrm>
          <a:prstGeom prst="bentConnector3">
            <a:avLst>
              <a:gd name="adj1" fmla="val 99331"/>
            </a:avLst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кругленный прямоугольник 29"/>
          <p:cNvSpPr/>
          <p:nvPr/>
        </p:nvSpPr>
        <p:spPr bwMode="auto">
          <a:xfrm>
            <a:off x="7924570" y="3860145"/>
            <a:ext cx="2835579" cy="1146780"/>
          </a:xfrm>
          <a:prstGeom prst="roundRect">
            <a:avLst>
              <a:gd name="adj" fmla="val 20016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07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5632" y="212656"/>
            <a:ext cx="10958595" cy="405102"/>
          </a:xfrm>
        </p:spPr>
        <p:txBody>
          <a:bodyPr/>
          <a:lstStyle/>
          <a:p>
            <a:pPr>
              <a:defRPr/>
            </a:pPr>
            <a:r>
              <a:rPr lang="ru-RU" dirty="0" smtClean="0"/>
              <a:t>Памятка по работе с ролевой моделью </a:t>
            </a:r>
            <a:r>
              <a:rPr lang="ru-RU" dirty="0"/>
              <a:t>ЦРМ ПЦП ЦКРР (</a:t>
            </a:r>
            <a:r>
              <a:rPr lang="en-US" dirty="0"/>
              <a:t>RM00000705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1927564" y="63035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 </a:t>
            </a:r>
          </a:p>
        </p:txBody>
      </p:sp>
      <p:sp>
        <p:nvSpPr>
          <p:cNvPr id="40" name="Скругленный прямоугольник 39"/>
          <p:cNvSpPr/>
          <p:nvPr/>
        </p:nvSpPr>
        <p:spPr bwMode="auto">
          <a:xfrm>
            <a:off x="10434020" y="694258"/>
            <a:ext cx="1911565" cy="21210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ru-RU">
              <a:solidFill>
                <a:schemeClr val="tx1"/>
              </a:solidFill>
              <a:cs typeface="SB Sans Text"/>
            </a:endParaRPr>
          </a:p>
        </p:txBody>
      </p:sp>
      <p:cxnSp>
        <p:nvCxnSpPr>
          <p:cNvPr id="21" name="Прямая соединительная линия 20"/>
          <p:cNvCxnSpPr>
            <a:cxnSpLocks/>
          </p:cNvCxnSpPr>
          <p:nvPr/>
        </p:nvCxnSpPr>
        <p:spPr bwMode="auto">
          <a:xfrm>
            <a:off x="161637" y="602215"/>
            <a:ext cx="11868727" cy="0"/>
          </a:xfrm>
          <a:prstGeom prst="line">
            <a:avLst/>
          </a:prstGeom>
          <a:ln>
            <a:solidFill>
              <a:srgbClr val="81007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 bwMode="auto">
          <a:xfrm>
            <a:off x="161636" y="611244"/>
            <a:ext cx="11637675" cy="3314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3</a:t>
            </a:r>
            <a:r>
              <a:rPr lang="en-US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. </a:t>
            </a:r>
            <a:r>
              <a:rPr lang="ru-RU" sz="1600" b="1" dirty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Как войти в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АС</a:t>
            </a:r>
            <a:endParaRPr lang="ru-RU" sz="1600" b="1" dirty="0">
              <a:solidFill>
                <a:srgbClr val="6E15A6"/>
              </a:solidFill>
              <a:latin typeface="SB Sans Display Semibold"/>
              <a:ea typeface="+mj-ea"/>
              <a:cs typeface="SB Sans Display Semibold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05632" y="900677"/>
            <a:ext cx="11681567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После получения необходимого доступа войдите в соответствующую систему следующим образом:</a:t>
            </a:r>
          </a:p>
          <a:p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1. Откройте раздел «Вход в АС»</a:t>
            </a:r>
          </a:p>
          <a:p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2. Выберите нужное название АС из списка</a:t>
            </a:r>
          </a:p>
          <a:p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3.      Нажмите на выбранную систему, чтобы открыть сеанс входа</a:t>
            </a:r>
            <a:endParaRPr lang="ru-RU" sz="1400" dirty="0"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860" y="2214647"/>
            <a:ext cx="9039225" cy="434340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 bwMode="auto">
          <a:xfrm>
            <a:off x="8294226" y="2214647"/>
            <a:ext cx="1494846" cy="317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Соединительная линия уступом 13"/>
          <p:cNvCxnSpPr>
            <a:stCxn id="10" idx="1"/>
          </p:cNvCxnSpPr>
          <p:nvPr/>
        </p:nvCxnSpPr>
        <p:spPr bwMode="auto">
          <a:xfrm rot="10800000" flipH="1" flipV="1">
            <a:off x="205632" y="1416203"/>
            <a:ext cx="1255228" cy="1305732"/>
          </a:xfrm>
          <a:prstGeom prst="bentConnector4">
            <a:avLst>
              <a:gd name="adj1" fmla="val -3812"/>
              <a:gd name="adj2" fmla="val 99870"/>
            </a:avLst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877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5632" y="212656"/>
            <a:ext cx="10958595" cy="405102"/>
          </a:xfrm>
        </p:spPr>
        <p:txBody>
          <a:bodyPr/>
          <a:lstStyle/>
          <a:p>
            <a:pPr>
              <a:defRPr/>
            </a:pPr>
            <a:r>
              <a:rPr lang="ru-RU" smtClean="0"/>
              <a:t>Памятка по работе с ролевой моделью ЦРМ ПЦП ЦКРР (</a:t>
            </a:r>
            <a:r>
              <a:rPr lang="en-US" smtClean="0"/>
              <a:t>RM00000705)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1927564" y="63035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 </a:t>
            </a:r>
          </a:p>
        </p:txBody>
      </p:sp>
      <p:sp>
        <p:nvSpPr>
          <p:cNvPr id="40" name="Скругленный прямоугольник 39"/>
          <p:cNvSpPr/>
          <p:nvPr/>
        </p:nvSpPr>
        <p:spPr bwMode="auto">
          <a:xfrm>
            <a:off x="10434020" y="694258"/>
            <a:ext cx="1911565" cy="21210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ru-RU">
              <a:solidFill>
                <a:schemeClr val="tx1"/>
              </a:solidFill>
              <a:cs typeface="SB Sans Text"/>
            </a:endParaRPr>
          </a:p>
        </p:txBody>
      </p:sp>
      <p:cxnSp>
        <p:nvCxnSpPr>
          <p:cNvPr id="21" name="Прямая соединительная линия 20"/>
          <p:cNvCxnSpPr>
            <a:cxnSpLocks/>
          </p:cNvCxnSpPr>
          <p:nvPr/>
        </p:nvCxnSpPr>
        <p:spPr bwMode="auto">
          <a:xfrm>
            <a:off x="161637" y="602215"/>
            <a:ext cx="11868727" cy="0"/>
          </a:xfrm>
          <a:prstGeom prst="line">
            <a:avLst/>
          </a:prstGeom>
          <a:ln>
            <a:solidFill>
              <a:srgbClr val="81007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 bwMode="auto">
          <a:xfrm>
            <a:off x="161636" y="706941"/>
            <a:ext cx="11637675" cy="3314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600" b="1" dirty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4</a:t>
            </a:r>
            <a:r>
              <a:rPr lang="en-US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. </a:t>
            </a:r>
            <a:r>
              <a:rPr lang="ru-RU" sz="1600" b="1" dirty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Распространённые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ошибки/проблемы </a:t>
            </a:r>
            <a:r>
              <a:rPr lang="ru-RU" sz="1600" b="1" dirty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и способы их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устранения</a:t>
            </a:r>
            <a:endParaRPr lang="ru-RU" sz="1600" b="1" dirty="0">
              <a:solidFill>
                <a:srgbClr val="6E15A6"/>
              </a:solidFill>
              <a:latin typeface="SB Sans Display Semibold"/>
              <a:ea typeface="+mj-ea"/>
              <a:cs typeface="SB Sans Display Semibold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05632" y="1117011"/>
            <a:ext cx="1168156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u="sng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1. Одновременно применять ролевую модель и подавать отдельный запрос на доступ через “ДРУГ”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Запросы, оформленные через “ДРУГ”, блокируют корректное применение ролевой модели. Используйте либо ролевую модель, либо отдельные запросы, но не оба варианта одновременно.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u="sng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2. Любую неисправность в работе АС воспринимать как отсутствие доступа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Не стоит путать технические сбои с проблемами доступа. Сначала попробуйте повторную авторизацию, перезагрузите интерфейс или свяжитесь с техподдержкой для выяснения первопричины неполадки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u="sng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3. Игнорирование уведомлений после применения ролевой модели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Пользователи часто игнорируют уведомления о примененной ролевой модели, где указаны АС необходимые к переоформлению. Обязательно проверяйте эти уведомления, чтобы вовремя переоформлять доступы в системах, отмеченных системой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u="sng" dirty="0">
                <a:latin typeface="SB Sans Text" panose="020B0503040504020204" pitchFamily="34" charset="-52"/>
                <a:cs typeface="SB Sans Text" panose="020B0503040504020204" pitchFamily="34" charset="-52"/>
              </a:rPr>
              <a:t>4. </a:t>
            </a:r>
            <a:r>
              <a:rPr lang="ru-RU" sz="1400" u="sng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Переоформление доступов с уникальной ролью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>
                <a:latin typeface="SB Sans Text" panose="020B0503040504020204" pitchFamily="34" charset="-52"/>
                <a:cs typeface="SB Sans Text" panose="020B0503040504020204" pitchFamily="34" charset="-52"/>
              </a:rPr>
              <a:t>П</a:t>
            </a:r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ри применении ролевой модели, прежняя роль слетает, потребуется повторное заведение индивидуальной заявки через Друг. Если есть опасения, что вы не сможете вспомнить какая роль у вас была ранее, просьба предварительно проверить</a:t>
            </a:r>
            <a:endParaRPr lang="ru-RU" sz="1400" dirty="0">
              <a:latin typeface="SB Sans Text" panose="020B0503040504020204" pitchFamily="34" charset="-52"/>
              <a:cs typeface="SB Sans Text" panose="020B0503040504020204" pitchFamily="34" charset="-52"/>
            </a:endParaRPr>
          </a:p>
        </p:txBody>
      </p:sp>
      <p:sp>
        <p:nvSpPr>
          <p:cNvPr id="19" name="Скругленный прямоугольник 18"/>
          <p:cNvSpPr/>
          <p:nvPr/>
        </p:nvSpPr>
        <p:spPr bwMode="auto">
          <a:xfrm>
            <a:off x="161635" y="5346637"/>
            <a:ext cx="11637675" cy="3314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5</a:t>
            </a:r>
            <a:r>
              <a:rPr lang="en-US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. </a:t>
            </a:r>
            <a:r>
              <a:rPr lang="ru-RU" sz="1600" b="1" dirty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Куда обратиться при возникновении </a:t>
            </a:r>
            <a:r>
              <a:rPr lang="ru-RU" sz="1600" b="1" dirty="0" smtClean="0">
                <a:solidFill>
                  <a:srgbClr val="6E15A6"/>
                </a:solidFill>
                <a:latin typeface="SB Sans Display Semibold"/>
                <a:ea typeface="+mj-ea"/>
                <a:cs typeface="SB Sans Display Semibold"/>
              </a:rPr>
              <a:t>вопросов</a:t>
            </a:r>
            <a:endParaRPr lang="ru-RU" sz="1600" b="1" dirty="0">
              <a:solidFill>
                <a:srgbClr val="6E15A6"/>
              </a:solidFill>
              <a:latin typeface="SB Sans Display Semibold"/>
              <a:ea typeface="+mj-ea"/>
              <a:cs typeface="SB Sans Display Semibold"/>
            </a:endParaRPr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205632" y="5688217"/>
            <a:ext cx="1168156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Эффективность производства_ЦКРР &lt;</a:t>
            </a:r>
            <a:r>
              <a:rPr lang="en-US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Effectiveness@sberbank.ru&gt;</a:t>
            </a:r>
            <a:r>
              <a:rPr lang="ru-RU" sz="1400" dirty="0" smtClean="0">
                <a:latin typeface="SB Sans Text" panose="020B0503040504020204" pitchFamily="34" charset="-52"/>
                <a:cs typeface="SB Sans Text" panose="020B0503040504020204" pitchFamily="34" charset="-52"/>
              </a:rPr>
              <a:t>.</a:t>
            </a:r>
          </a:p>
        </p:txBody>
      </p:sp>
      <p:cxnSp>
        <p:nvCxnSpPr>
          <p:cNvPr id="22" name="Прямая соединительная линия 21"/>
          <p:cNvCxnSpPr>
            <a:cxnSpLocks/>
          </p:cNvCxnSpPr>
          <p:nvPr/>
        </p:nvCxnSpPr>
        <p:spPr bwMode="auto">
          <a:xfrm>
            <a:off x="161635" y="5163872"/>
            <a:ext cx="11868727" cy="0"/>
          </a:xfrm>
          <a:prstGeom prst="line">
            <a:avLst/>
          </a:prstGeom>
          <a:ln>
            <a:solidFill>
              <a:srgbClr val="81007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674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9978</TotalTime>
  <Words>579</Words>
  <Application>Microsoft Office PowerPoint</Application>
  <PresentationFormat>Широкоэкранный</PresentationFormat>
  <Paragraphs>48</Paragraphs>
  <Slides>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Roboto Thin</vt:lpstr>
      <vt:lpstr>SB Sans Display Light</vt:lpstr>
      <vt:lpstr>SB Sans Display Semibold</vt:lpstr>
      <vt:lpstr>SB Sans Text</vt:lpstr>
      <vt:lpstr>Тема Office</vt:lpstr>
      <vt:lpstr>oleObj</vt:lpstr>
      <vt:lpstr>Памятка по работе с ролевой моделью ЦРМ ПЦП ЦКРР (RM00000705)</vt:lpstr>
      <vt:lpstr>Памятка по работе с ролевой моделью ЦРМ ПЦП ЦКРР (RM00000705)</vt:lpstr>
      <vt:lpstr>Памятка по работе с ролевой моделью ЦРМ ПЦП ЦКРР (RM00000705)</vt:lpstr>
      <vt:lpstr>Памятка по работе с ролевой моделью ЦРМ ПЦП ЦКРР (RM00000705)</vt:lpstr>
      <vt:lpstr>Памятка по работе с ролевой моделью ЦРМ ПЦП ЦКРР (RM00000705)</vt:lpstr>
    </vt:vector>
  </TitlesOfParts>
  <Company>ПАО Сбербанк России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Памятка по работе с ролевой моделью ЦРМ ПЦП ЦКРР (RM00000705)</dc:title>
  <dc:creator>Захарова Анна Андреевна</dc:creator>
  <cp:lastModifiedBy>Захарова Анна Андреевна</cp:lastModifiedBy>
  <cp:revision>47</cp:revision>
  <dcterms:created xsi:type="dcterms:W3CDTF">2026-02-25T05:54:55Z</dcterms:created>
  <dcterms:modified xsi:type="dcterms:W3CDTF">2026-03-06T07:18:46Z</dcterms:modified>
</cp:coreProperties>
</file>